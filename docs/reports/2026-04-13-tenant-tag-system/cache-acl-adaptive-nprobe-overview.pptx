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"/>
            <a:ext cx="96926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Tag Tree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0584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Aptos"/>
              </a:rPr>
              <a:t>Current tag levels in the benchmark and serving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10789920" cy="18288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417320"/>
            <a:ext cx="3017520" cy="4389120"/>
          </a:xfrm>
          <a:prstGeom prst="rect">
            <a:avLst/>
          </a:prstGeom>
          <a:solidFill>
            <a:srgbClr val="F3F4F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27048"/>
            <a:ext cx="2761488" cy="2560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11111"/>
                </a:solidFill>
                <a:latin typeface="Aptos"/>
              </a:rPr>
              <a:t>Key points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837944"/>
            <a:ext cx="2761488" cy="387705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Aptos"/>
              </a:rPr>
              <a:t>Current levels: org / dept / team / project.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Aptos"/>
              </a:rPr>
              <a:t>The hierarchy goes from coarse to fine.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Aptos"/>
              </a:rPr>
              <a:t>Query filters may appear at any level.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645920"/>
            <a:ext cx="128016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32120" y="1673352"/>
            <a:ext cx="1188720" cy="38404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11111"/>
                </a:solidFill>
                <a:latin typeface="Aptos"/>
              </a:rPr>
              <a:t>org_*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17336" y="2084832"/>
            <a:ext cx="18288" cy="22860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313432"/>
            <a:ext cx="3657600" cy="18288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65776" y="2313432"/>
            <a:ext cx="18288" cy="201168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331720"/>
            <a:ext cx="128016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2359152"/>
            <a:ext cx="1188720" cy="38404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11111"/>
                </a:solidFill>
                <a:latin typeface="Aptos"/>
              </a:rPr>
              <a:t>dept_*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313432"/>
            <a:ext cx="18288" cy="201168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2331720"/>
            <a:ext cx="128016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359152"/>
            <a:ext cx="1188720" cy="38404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11111"/>
                </a:solidFill>
                <a:latin typeface="Aptos"/>
              </a:rPr>
              <a:t>dept_*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65776" y="2770632"/>
            <a:ext cx="18288" cy="201168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68896" y="2770632"/>
            <a:ext cx="18288" cy="201168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703320" y="2971800"/>
            <a:ext cx="4846320" cy="18288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94176" y="2953512"/>
            <a:ext cx="18288" cy="201168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63240" y="3154680"/>
            <a:ext cx="128016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08960" y="3182112"/>
            <a:ext cx="1188720" cy="38404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11111"/>
                </a:solidFill>
                <a:latin typeface="Aptos"/>
              </a:rPr>
              <a:t>team_*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40096" y="2953512"/>
            <a:ext cx="18288" cy="201168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09160" y="3154680"/>
            <a:ext cx="128016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3182112"/>
            <a:ext cx="1188720" cy="38404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11111"/>
                </a:solidFill>
                <a:latin typeface="Aptos"/>
              </a:rPr>
              <a:t>team_*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86016" y="2953512"/>
            <a:ext cx="18288" cy="201168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55080" y="3154680"/>
            <a:ext cx="128016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182112"/>
            <a:ext cx="1188720" cy="38404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11111"/>
                </a:solidFill>
                <a:latin typeface="Aptos"/>
              </a:rPr>
              <a:t>team_*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31936" y="2953512"/>
            <a:ext cx="18288" cy="201168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01000" y="3154680"/>
            <a:ext cx="128016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3182112"/>
            <a:ext cx="1188720" cy="38404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11111"/>
                </a:solidFill>
                <a:latin typeface="Aptos"/>
              </a:rPr>
              <a:t>team_*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94176" y="3593592"/>
            <a:ext cx="18288" cy="201168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631936" y="3593592"/>
            <a:ext cx="18288" cy="201168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94176" y="3794760"/>
            <a:ext cx="4937760" cy="18288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94176" y="3776472"/>
            <a:ext cx="18288" cy="201168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063240" y="3977639"/>
            <a:ext cx="128016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08960" y="4005071"/>
            <a:ext cx="1188720" cy="38404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11111"/>
                </a:solidFill>
                <a:latin typeface="Aptos"/>
              </a:rPr>
              <a:t>project_*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31936" y="3776472"/>
            <a:ext cx="18288" cy="201168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01000" y="3977639"/>
            <a:ext cx="128016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20" y="4005071"/>
            <a:ext cx="1188720" cy="384048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11111"/>
                </a:solidFill>
                <a:latin typeface="Aptos"/>
              </a:rPr>
              <a:t>project_*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5074920"/>
            <a:ext cx="3931920" cy="2286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6B7280"/>
                </a:solidFill>
                <a:latin typeface="Aptos"/>
              </a:rPr>
              <a:t>coarse -&gt; fine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98480" y="6400800"/>
            <a:ext cx="457200" cy="1645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6B7280"/>
                </a:solidFill>
                <a:latin typeface="Aptos"/>
              </a:rPr>
              <a:t>01/04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"/>
            <a:ext cx="96926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Sparse / Dense Strategy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0584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Aptos"/>
              </a:rPr>
              <a:t>Route choice uses exact posting fanout, not tenant-size heuristics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10789920" cy="18288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0" y="1508760"/>
            <a:ext cx="2926080" cy="457200"/>
          </a:xfrm>
          <a:prstGeom prst="rect">
            <a:avLst/>
          </a:prstGeom>
          <a:solidFill>
            <a:srgbClr val="F3F4F6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536192"/>
            <a:ext cx="2834640" cy="40233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11111"/>
                </a:solidFill>
                <a:latin typeface="Aptos"/>
              </a:rPr>
              <a:t>query + tenant + tags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843016" y="1965960"/>
            <a:ext cx="18288" cy="219456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0" y="2240280"/>
            <a:ext cx="5303520" cy="731520"/>
          </a:xfrm>
          <a:prstGeom prst="rect">
            <a:avLst/>
          </a:prstGeom>
          <a:solidFill>
            <a:srgbClr val="FFFFFF"/>
          </a:solidFill>
          <a:ln w="1524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2267712"/>
            <a:ext cx="5212080" cy="67665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11111"/>
                </a:solidFill>
                <a:latin typeface="Aptos"/>
              </a:rPr>
              <a:t>all tags have direct posting lists and exact union &lt;= DirectSparseMaxPostings 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43016" y="2971800"/>
            <a:ext cx="18288" cy="18288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48840" y="3429000"/>
            <a:ext cx="7406640" cy="18288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3429000"/>
            <a:ext cx="18288" cy="22860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06840" y="3429000"/>
            <a:ext cx="18288" cy="228600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200400"/>
            <a:ext cx="731520" cy="182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Aptos"/>
              </a:rP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200400"/>
            <a:ext cx="914400" cy="1828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6B7280"/>
                </a:solidFill>
                <a:latin typeface="Aptos"/>
              </a:rPr>
              <a:t>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3749039"/>
            <a:ext cx="5074920" cy="1874519"/>
          </a:xfrm>
          <a:prstGeom prst="rect">
            <a:avLst/>
          </a:prstGeom>
          <a:solidFill>
            <a:srgbClr val="F3F4F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858767"/>
            <a:ext cx="4818888" cy="2560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11111"/>
                </a:solidFill>
                <a:latin typeface="Aptos"/>
              </a:rPr>
              <a:t>Sparse path 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169663"/>
            <a:ext cx="4818888" cy="136245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Aptos"/>
              </a:rPr>
              <a:t>Collect the exact direct posting union for all query tags.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Aptos"/>
              </a:rPr>
              <a:t>Bypass graph search and scan those postings directly.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Aptos"/>
              </a:rPr>
              <a:t>Keep exact inline tag filtering during posting scan.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82512" y="3749039"/>
            <a:ext cx="5074920" cy="1874519"/>
          </a:xfrm>
          <a:prstGeom prst="rect">
            <a:avLst/>
          </a:prstGeom>
          <a:solidFill>
            <a:srgbClr val="F3F4F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0528" y="3858767"/>
            <a:ext cx="4818888" cy="2560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11111"/>
                </a:solidFill>
                <a:latin typeface="Aptos"/>
              </a:rPr>
              <a:t>Dense path algorithm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169663"/>
            <a:ext cx="4818888" cy="136245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Aptos"/>
              </a:rPr>
              <a:t>Estimate selectivity from routing stats and head metadata.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Aptos"/>
              </a:rPr>
              <a:t>Run graph search and compute adaptive postingTarget.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Aptos"/>
              </a:rPr>
              <a:t>Keep exact inline tag filtering on the result path.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97880"/>
            <a:ext cx="1051560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6B7280"/>
                </a:solidFill>
                <a:latin typeface="Aptos"/>
              </a:rPr>
              <a:t>Override: ForceDenseTagSearch sends all filtered queries to the dense path.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6400800"/>
            <a:ext cx="457200" cy="1645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6B7280"/>
                </a:solidFill>
                <a:latin typeface="Aptos"/>
              </a:rPr>
              <a:t>02/04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"/>
            <a:ext cx="96926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Adaptive Nprobe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0584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Aptos"/>
              </a:rPr>
              <a:t>Corrected to match the current wrapper + SearchIndex code path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10789920" cy="18288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3063240" cy="1188720"/>
          </a:xfrm>
          <a:prstGeom prst="rect">
            <a:avLst/>
          </a:prstGeom>
          <a:solidFill>
            <a:srgbClr val="F3F4F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91056"/>
            <a:ext cx="2807208" cy="2560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11111"/>
                </a:solidFill>
                <a:latin typeface="Aptos"/>
              </a:rPr>
              <a:t>Wrapper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01952"/>
            <a:ext cx="2807208" cy="67665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Aptos"/>
              </a:rPr>
              <a:t>Estimate raw filtered vector selectivity.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Aptos"/>
              </a:rPr>
              <a:t>sel_eff = clamp(sel_raw / max(1, safety), 1e-6, 1.0)</a:t>
            </a:r>
          </a:p>
        </p:txBody>
      </p:sp>
      <p:sp>
        <p:nvSpPr>
          <p:cNvPr id="9" name="Rectangle 8"/>
          <p:cNvSpPr/>
          <p:nvPr/>
        </p:nvSpPr>
        <p:spPr>
          <a:xfrm>
            <a:off x="4069080" y="1481328"/>
            <a:ext cx="7360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97096" y="1591056"/>
            <a:ext cx="7104888" cy="2560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11111"/>
                </a:solidFill>
                <a:latin typeface="Aptos"/>
              </a:rPr>
              <a:t>SearchIndex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97096" y="1901952"/>
            <a:ext cx="7104888" cy="282549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Aptos"/>
              </a:rPr>
              <a:t>n_base = max(SearchInternalResultNum, topk)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Aptos"/>
              </a:rPr>
              <a:t>avgPosting = max(1, tenantSize / postingCount)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Aptos"/>
              </a:rPr>
              <a:t>p_recall = ceil(topk * R / max(1e-6, avgPosting * sel_eff))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Aptos"/>
              </a:rPr>
              <a:t>p_cover = ceil(n_base / max(1e-6, sel_eff^gamma))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Aptos"/>
              </a:rPr>
              <a:t>postingTarget = min(numSamples, max(n_base, p_recall, p_cover))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Aptos"/>
              </a:rPr>
              <a:t>graphResultNum = postingTarget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2926080"/>
            <a:ext cx="3063240" cy="1874519"/>
          </a:xfrm>
          <a:prstGeom prst="rect">
            <a:avLst/>
          </a:prstGeom>
          <a:solidFill>
            <a:srgbClr val="F3F4F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035808"/>
            <a:ext cx="2807208" cy="2560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11111"/>
                </a:solidFill>
                <a:latin typeface="Aptos"/>
              </a:rP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346704"/>
            <a:ext cx="2807208" cy="1362455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Aptos"/>
              </a:rPr>
              <a:t>Lower selectivity means more postings are needed.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Aptos"/>
              </a:rPr>
              <a:t>The budget expands for both recall and coverage.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Aptos"/>
              </a:rPr>
              <a:t>Dense search uses postingTarget as graphResultNum.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5047488"/>
            <a:ext cx="6903720" cy="201168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6B7280"/>
                </a:solidFill>
                <a:latin typeface="Cascadia Code"/>
              </a:rPr>
              <a:t>R = clamp(targetRecall, 0.01, 1.0)   |   gamma = clamp(coverageExponent, 0.0, 2.0)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00800"/>
            <a:ext cx="457200" cy="1645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6B7280"/>
                </a:solidFill>
                <a:latin typeface="Aptos"/>
              </a:rPr>
              <a:t>03/04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111111"/>
          </a:solidFill>
          <a:ln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18872"/>
            <a:ext cx="969264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Aptos"/>
              </a:rPr>
              <a:t>Sequence / Random Tag Filtering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749808"/>
            <a:ext cx="100584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6B7280"/>
                </a:solidFill>
                <a:latin typeface="Aptos"/>
              </a:rPr>
              <a:t>Validated cache-stress snapshot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1097280"/>
            <a:ext cx="10789920" cy="18288"/>
          </a:xfrm>
          <a:prstGeom prst="rect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691640"/>
            <a:ext cx="182880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5256" y="1719072"/>
            <a:ext cx="1755648" cy="44805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11111"/>
                </a:solidFill>
                <a:latin typeface="Aptos"/>
              </a:rPr>
              <a:t>Scenario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2697480" y="1691640"/>
            <a:ext cx="173736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34056" y="1719072"/>
            <a:ext cx="1664208" cy="44805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11111"/>
                </a:solidFill>
                <a:latin typeface="Aptos"/>
              </a:rPr>
              <a:t>Avg Latency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691640"/>
            <a:ext cx="146304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1416" y="1719072"/>
            <a:ext cx="1389888" cy="44805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11111"/>
                </a:solidFill>
                <a:latin typeface="Aptos"/>
              </a:rPr>
              <a:t>P95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691640"/>
            <a:ext cx="146304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34456" y="1719072"/>
            <a:ext cx="1389888" cy="44805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11111"/>
                </a:solidFill>
                <a:latin typeface="Aptos"/>
              </a:rPr>
              <a:t>P99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60920" y="1691640"/>
            <a:ext cx="128016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97496" y="1719072"/>
            <a:ext cx="1207008" cy="44805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11111"/>
                </a:solidFill>
                <a:latin typeface="Aptos"/>
              </a:rPr>
              <a:t>QPS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41080" y="1691640"/>
            <a:ext cx="128016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77656" y="1719072"/>
            <a:ext cx="1207008" cy="44805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111111"/>
                </a:solidFill>
                <a:latin typeface="Aptos"/>
              </a:rPr>
              <a:t>Recall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2194560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2221992"/>
            <a:ext cx="1755648" cy="5394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11111"/>
                </a:solidFill>
                <a:latin typeface="Aptos"/>
              </a:rPr>
              <a:t>sequence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2194560"/>
            <a:ext cx="1737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34056" y="2221992"/>
            <a:ext cx="1664208" cy="5394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  <a:latin typeface="Aptos"/>
              </a:rPr>
              <a:t>31.87 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2194560"/>
            <a:ext cx="1463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71416" y="2221992"/>
            <a:ext cx="1389888" cy="5394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  <a:latin typeface="Aptos"/>
              </a:rPr>
              <a:t>74.85 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97880" y="2194560"/>
            <a:ext cx="1463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34456" y="2221992"/>
            <a:ext cx="1389888" cy="5394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  <a:latin typeface="Aptos"/>
              </a:rPr>
              <a:t>84.85 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0920" y="2194560"/>
            <a:ext cx="1280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97496" y="2221992"/>
            <a:ext cx="1207008" cy="5394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  <a:latin typeface="Aptos"/>
              </a:rPr>
              <a:t>31.38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41080" y="2194560"/>
            <a:ext cx="1280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77656" y="2221992"/>
            <a:ext cx="1207008" cy="5394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  <a:latin typeface="Aptos"/>
              </a:rPr>
              <a:t>0.9953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2788920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2816352"/>
            <a:ext cx="1755648" cy="5394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11111"/>
                </a:solidFill>
                <a:latin typeface="Aptos"/>
              </a:rPr>
              <a:t>random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97480" y="2788920"/>
            <a:ext cx="1737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34056" y="2816352"/>
            <a:ext cx="1664208" cy="5394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  <a:latin typeface="Aptos"/>
              </a:rPr>
              <a:t>47.27 ms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4840" y="2788920"/>
            <a:ext cx="1463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71416" y="2816352"/>
            <a:ext cx="1389888" cy="5394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  <a:latin typeface="Aptos"/>
              </a:rPr>
              <a:t>122.46 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897880" y="2788920"/>
            <a:ext cx="1463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34456" y="2816352"/>
            <a:ext cx="1389888" cy="5394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  <a:latin typeface="Aptos"/>
              </a:rPr>
              <a:t>288.86 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60920" y="2788920"/>
            <a:ext cx="1280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97496" y="2816352"/>
            <a:ext cx="1207008" cy="5394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  <a:latin typeface="Aptos"/>
              </a:rPr>
              <a:t>21.15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41080" y="2788920"/>
            <a:ext cx="1280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77656" y="2816352"/>
            <a:ext cx="1207008" cy="5394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  <a:latin typeface="Aptos"/>
              </a:rPr>
              <a:t>0.9945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3383280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5256" y="3410712"/>
            <a:ext cx="1755648" cy="5394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1">
                <a:solidFill>
                  <a:srgbClr val="111111"/>
                </a:solidFill>
                <a:latin typeface="Aptos"/>
              </a:rPr>
              <a:t>delta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697480" y="3383280"/>
            <a:ext cx="1737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34056" y="3410712"/>
            <a:ext cx="1664208" cy="5394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  <a:latin typeface="Aptos"/>
              </a:rPr>
              <a:t>+48.32%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34840" y="3383280"/>
            <a:ext cx="1463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71416" y="3410712"/>
            <a:ext cx="1389888" cy="5394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  <a:latin typeface="Aptos"/>
              </a:rPr>
              <a:t>+63.61%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897880" y="3383280"/>
            <a:ext cx="14630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34456" y="3410712"/>
            <a:ext cx="1389888" cy="5394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  <a:latin typeface="Aptos"/>
              </a:rPr>
              <a:t>+240.44%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60920" y="3383280"/>
            <a:ext cx="1280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97496" y="3410712"/>
            <a:ext cx="1207008" cy="5394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  <a:latin typeface="Aptos"/>
              </a:rPr>
              <a:t>-32.60%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41080" y="3383280"/>
            <a:ext cx="12801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77656" y="3410712"/>
            <a:ext cx="1207008" cy="5394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111111"/>
                </a:solidFill>
                <a:latin typeface="Aptos"/>
              </a:rPr>
              <a:t>-0.0008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8680" y="4754880"/>
            <a:ext cx="1005840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6696" y="4864608"/>
            <a:ext cx="9802368" cy="25603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111111"/>
                </a:solidFill>
                <a:latin typeface="Aptos"/>
              </a:rPr>
              <a:t>Readout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6696" y="5175504"/>
            <a:ext cx="9802368" cy="493776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Aptos"/>
              </a:rPr>
              <a:t>Recall stays effectively stable.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0">
                <a:solidFill>
                  <a:srgbClr val="111111"/>
                </a:solidFill>
                <a:latin typeface="Aptos"/>
              </a:rPr>
              <a:t>Random tenant/tag mixing mainly hurts tail latency and throughput.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98480" y="6400800"/>
            <a:ext cx="457200" cy="164592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>
              <a:lnSpc>
                <a:spcPct val="110000"/>
              </a:lnSpc>
              <a:spcAft>
                <a:spcPts val="400"/>
              </a:spcAft>
            </a:pPr>
            <a:r>
              <a:rPr sz="1000" b="1">
                <a:solidFill>
                  <a:srgbClr val="6B7280"/>
                </a:solidFill>
                <a:latin typeface="Aptos"/>
              </a:rPr>
              <a:t>04/04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